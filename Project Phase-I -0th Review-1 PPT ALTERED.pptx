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1" r:id="rId6"/>
    <p:sldId id="270" r:id="rId7"/>
    <p:sldId id="272" r:id="rId8"/>
    <p:sldId id="260" r:id="rId9"/>
    <p:sldId id="261" r:id="rId10"/>
    <p:sldId id="262" r:id="rId11"/>
    <p:sldId id="265" r:id="rId12"/>
    <p:sldId id="266" r:id="rId13"/>
    <p:sldId id="269" r:id="rId14"/>
  </p:sldIdLst>
  <p:sldSz cx="12192000" cy="6858000"/>
  <p:notesSz cx="6858000" cy="9144000"/>
  <p:embeddedFontLst>
    <p:embeddedFont>
      <p:font typeface="Book Antiqua" panose="02040602050305030304" pitchFamily="18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qlVfWdu2U9ZrtiM122pZXgd/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883BE-9F36-4D2C-BAB1-6E44DEDD3EA5}" v="2" dt="2026-10-14T06:08:42.282"/>
  </p1510:revLst>
</p1510:revInfo>
</file>

<file path=ppt/tableStyles.xml><?xml version="1.0" encoding="utf-8"?>
<a:tblStyleLst xmlns:a="http://schemas.openxmlformats.org/drawingml/2006/main" def="{7F5DC531-3BBC-4B7F-937C-E1510FDDE53F}">
  <a:tblStyle styleId="{7F5DC531-3BBC-4B7F-937C-E1510FDDE5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MOL" userId="47059ce5aa6ea3c7" providerId="LiveId" clId="{2B0AA82E-2A44-4B05-941A-A84F581B91A2}"/>
    <pc:docChg chg="custSel addSld modSld sldOrd">
      <pc:chgData name="LEKHA MOL" userId="47059ce5aa6ea3c7" providerId="LiveId" clId="{2B0AA82E-2A44-4B05-941A-A84F581B91A2}" dt="2026-10-14T06:12:27.001" v="76"/>
      <pc:docMkLst>
        <pc:docMk/>
      </pc:docMkLst>
      <pc:sldChg chg="addSp delSp modSp new mod ord">
        <pc:chgData name="LEKHA MOL" userId="47059ce5aa6ea3c7" providerId="LiveId" clId="{2B0AA82E-2A44-4B05-941A-A84F581B91A2}" dt="2026-10-14T06:12:27.001" v="76"/>
        <pc:sldMkLst>
          <pc:docMk/>
          <pc:sldMk cId="1058519529" sldId="270"/>
        </pc:sldMkLst>
        <pc:spChg chg="add">
          <ac:chgData name="LEKHA MOL" userId="47059ce5aa6ea3c7" providerId="LiveId" clId="{2B0AA82E-2A44-4B05-941A-A84F581B91A2}" dt="2026-10-14T05:54:24.486" v="3" actId="22"/>
          <ac:spMkLst>
            <pc:docMk/>
            <pc:sldMk cId="1058519529" sldId="270"/>
            <ac:spMk id="3" creationId="{E8379BE1-B4BA-B2E7-5037-20CD353C7CDC}"/>
          </ac:spMkLst>
        </pc:spChg>
        <pc:spChg chg="add">
          <ac:chgData name="LEKHA MOL" userId="47059ce5aa6ea3c7" providerId="LiveId" clId="{2B0AA82E-2A44-4B05-941A-A84F581B91A2}" dt="2026-10-14T05:54:36.566" v="4" actId="22"/>
          <ac:spMkLst>
            <pc:docMk/>
            <pc:sldMk cId="1058519529" sldId="270"/>
            <ac:spMk id="5" creationId="{57357BB5-3838-278B-63B9-3B688738BE6E}"/>
          </ac:spMkLst>
        </pc:spChg>
        <pc:spChg chg="add del">
          <ac:chgData name="LEKHA MOL" userId="47059ce5aa6ea3c7" providerId="LiveId" clId="{2B0AA82E-2A44-4B05-941A-A84F581B91A2}" dt="2026-10-14T05:54:51.078" v="6" actId="478"/>
          <ac:spMkLst>
            <pc:docMk/>
            <pc:sldMk cId="1058519529" sldId="270"/>
            <ac:spMk id="7" creationId="{5DDF6A53-0C0B-A4AE-04AE-C935A8782261}"/>
          </ac:spMkLst>
        </pc:spChg>
        <pc:spChg chg="add del mod">
          <ac:chgData name="LEKHA MOL" userId="47059ce5aa6ea3c7" providerId="LiveId" clId="{2B0AA82E-2A44-4B05-941A-A84F581B91A2}" dt="2026-10-14T06:10:01.963" v="68"/>
          <ac:spMkLst>
            <pc:docMk/>
            <pc:sldMk cId="1058519529" sldId="270"/>
            <ac:spMk id="9" creationId="{80436013-B90D-6974-C58C-5B20029BC566}"/>
          </ac:spMkLst>
        </pc:spChg>
        <pc:spChg chg="add mod">
          <ac:chgData name="LEKHA MOL" userId="47059ce5aa6ea3c7" providerId="LiveId" clId="{2B0AA82E-2A44-4B05-941A-A84F581B91A2}" dt="2026-10-14T06:04:13.194" v="61" actId="1076"/>
          <ac:spMkLst>
            <pc:docMk/>
            <pc:sldMk cId="1058519529" sldId="270"/>
            <ac:spMk id="11" creationId="{26535DBE-B1CE-BE28-F69B-DCC04A0F9D46}"/>
          </ac:spMkLst>
        </pc:spChg>
        <pc:picChg chg="add mod">
          <ac:chgData name="LEKHA MOL" userId="47059ce5aa6ea3c7" providerId="LiveId" clId="{2B0AA82E-2A44-4B05-941A-A84F581B91A2}" dt="2026-10-14T06:08:52.895" v="66" actId="14100"/>
          <ac:picMkLst>
            <pc:docMk/>
            <pc:sldMk cId="1058519529" sldId="270"/>
            <ac:picMk id="12" creationId="{CC09D5E9-528A-D616-449C-706100C6B379}"/>
          </ac:picMkLst>
        </pc:picChg>
      </pc:sldChg>
      <pc:sldChg chg="addSp modSp add mod">
        <pc:chgData name="LEKHA MOL" userId="47059ce5aa6ea3c7" providerId="LiveId" clId="{2B0AA82E-2A44-4B05-941A-A84F581B91A2}" dt="2026-10-14T06:00:41.274" v="55" actId="12"/>
        <pc:sldMkLst>
          <pc:docMk/>
          <pc:sldMk cId="638394914" sldId="271"/>
        </pc:sldMkLst>
        <pc:spChg chg="add mod">
          <ac:chgData name="LEKHA MOL" userId="47059ce5aa6ea3c7" providerId="LiveId" clId="{2B0AA82E-2A44-4B05-941A-A84F581B91A2}" dt="2026-10-14T05:57:14.143" v="42" actId="14100"/>
          <ac:spMkLst>
            <pc:docMk/>
            <pc:sldMk cId="638394914" sldId="271"/>
            <ac:spMk id="4" creationId="{43E73485-6B24-893E-072A-DB0DA21176CE}"/>
          </ac:spMkLst>
        </pc:spChg>
        <pc:spChg chg="add mod">
          <ac:chgData name="LEKHA MOL" userId="47059ce5aa6ea3c7" providerId="LiveId" clId="{2B0AA82E-2A44-4B05-941A-A84F581B91A2}" dt="2026-10-14T06:00:41.274" v="55" actId="12"/>
          <ac:spMkLst>
            <pc:docMk/>
            <pc:sldMk cId="638394914" sldId="271"/>
            <ac:spMk id="7" creationId="{9DD67002-3F5C-E1E7-5DD2-F3CEF0507F1C}"/>
          </ac:spMkLst>
        </pc:spChg>
      </pc:sldChg>
      <pc:sldChg chg="addSp modSp new mod">
        <pc:chgData name="LEKHA MOL" userId="47059ce5aa6ea3c7" providerId="LiveId" clId="{2B0AA82E-2A44-4B05-941A-A84F581B91A2}" dt="2026-10-14T06:12:18.714" v="74" actId="14100"/>
        <pc:sldMkLst>
          <pc:docMk/>
          <pc:sldMk cId="3380060394" sldId="272"/>
        </pc:sldMkLst>
        <pc:spChg chg="add">
          <ac:chgData name="LEKHA MOL" userId="47059ce5aa6ea3c7" providerId="LiveId" clId="{2B0AA82E-2A44-4B05-941A-A84F581B91A2}" dt="2026-10-14T06:10:11.226" v="70" actId="22"/>
          <ac:spMkLst>
            <pc:docMk/>
            <pc:sldMk cId="3380060394" sldId="272"/>
            <ac:spMk id="3" creationId="{2D988CDC-CCE5-E499-E0E6-50FE0276D10A}"/>
          </ac:spMkLst>
        </pc:spChg>
        <pc:spChg chg="add">
          <ac:chgData name="LEKHA MOL" userId="47059ce5aa6ea3c7" providerId="LiveId" clId="{2B0AA82E-2A44-4B05-941A-A84F581B91A2}" dt="2026-10-14T06:10:23.455" v="71" actId="22"/>
          <ac:spMkLst>
            <pc:docMk/>
            <pc:sldMk cId="3380060394" sldId="272"/>
            <ac:spMk id="5" creationId="{0A496429-6CEE-5E24-0936-E47BDF6F61DC}"/>
          </ac:spMkLst>
        </pc:spChg>
        <pc:picChg chg="add mod">
          <ac:chgData name="LEKHA MOL" userId="47059ce5aa6ea3c7" providerId="LiveId" clId="{2B0AA82E-2A44-4B05-941A-A84F581B91A2}" dt="2026-10-14T06:12:18.714" v="74" actId="14100"/>
          <ac:picMkLst>
            <pc:docMk/>
            <pc:sldMk cId="3380060394" sldId="272"/>
            <ac:picMk id="7" creationId="{9B18C123-3B80-FD6C-9A1B-BB146AE997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34307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8542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240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74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1375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588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037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042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622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317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314450" y="3203575"/>
            <a:ext cx="9801225" cy="3298287"/>
            <a:chOff x="1065398" y="1951630"/>
            <a:chExt cx="9800496" cy="3298168"/>
          </a:xfrm>
        </p:grpSpPr>
        <p:grpSp>
          <p:nvGrpSpPr>
            <p:cNvPr id="87" name="Google Shape;87;p1"/>
            <p:cNvGrpSpPr/>
            <p:nvPr/>
          </p:nvGrpSpPr>
          <p:grpSpPr>
            <a:xfrm>
              <a:off x="1459069" y="1951630"/>
              <a:ext cx="1477852" cy="1477760"/>
              <a:chOff x="1446097" y="1951630"/>
              <a:chExt cx="1477852" cy="1477760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1446097" y="1951630"/>
                <a:ext cx="1477852" cy="1477760"/>
              </a:xfrm>
              <a:prstGeom prst="ellipse">
                <a:avLst/>
              </a:prstGeom>
              <a:solidFill>
                <a:srgbClr val="F25E3D"/>
              </a:solidFill>
              <a:ln>
                <a:noFill/>
              </a:ln>
              <a:effectLst>
                <a:outerShdw blurRad="63500" sx="102000" sy="102000">
                  <a:srgbClr val="000000">
                    <a:alpha val="7294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9" name="Google Shape;89;p1" descr="Related image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91797" y="2396765"/>
                <a:ext cx="587101" cy="5871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" name="Google Shape;90;p1"/>
            <p:cNvGrpSpPr/>
            <p:nvPr/>
          </p:nvGrpSpPr>
          <p:grpSpPr>
            <a:xfrm>
              <a:off x="1065398" y="3957271"/>
              <a:ext cx="2265842" cy="776557"/>
              <a:chOff x="1065398" y="3957271"/>
              <a:chExt cx="2265842" cy="776557"/>
            </a:xfrm>
          </p:grpSpPr>
          <p:sp>
            <p:nvSpPr>
              <p:cNvPr id="91" name="Google Shape;91;p1"/>
              <p:cNvSpPr txBox="1"/>
              <p:nvPr/>
            </p:nvSpPr>
            <p:spPr>
              <a:xfrm>
                <a:off x="1065398" y="4426051"/>
                <a:ext cx="226584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1065398" y="3957271"/>
                <a:ext cx="2265842" cy="338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BATCH NO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:</a:t>
                </a:r>
                <a:r>
                  <a:rPr lang="en-US" sz="1600" b="1" dirty="0">
                    <a:solidFill>
                      <a:schemeClr val="dk1"/>
                    </a:solidFill>
                    <a:latin typeface="+mn-lt"/>
                    <a:ea typeface="Georgia"/>
                    <a:cs typeface="Georgia"/>
                    <a:sym typeface="Georgia"/>
                  </a:rPr>
                  <a:t>1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6</a:t>
                </a:r>
                <a:endParaRPr dirty="0"/>
              </a:p>
            </p:txBody>
          </p:sp>
        </p:grpSp>
        <p:sp>
          <p:nvSpPr>
            <p:cNvPr id="93" name="Google Shape;93;p1"/>
            <p:cNvSpPr/>
            <p:nvPr/>
          </p:nvSpPr>
          <p:spPr>
            <a:xfrm>
              <a:off x="5227513" y="1951630"/>
              <a:ext cx="1476265" cy="1477760"/>
            </a:xfrm>
            <a:prstGeom prst="ellipse">
              <a:avLst/>
            </a:prstGeom>
            <a:solidFill>
              <a:srgbClr val="F25E3D"/>
            </a:solidFill>
            <a:ln>
              <a:noFill/>
            </a:ln>
            <a:effectLst>
              <a:outerShdw blurRad="63500" sx="102000" sy="102000">
                <a:srgbClr val="000000">
                  <a:alpha val="7294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4832725" y="3957271"/>
              <a:ext cx="3599712" cy="1292527"/>
              <a:chOff x="1065398" y="3957271"/>
              <a:chExt cx="3599712" cy="1292527"/>
            </a:xfrm>
          </p:grpSpPr>
          <p:sp>
            <p:nvSpPr>
              <p:cNvPr id="95" name="Google Shape;95;p1"/>
              <p:cNvSpPr txBox="1"/>
              <p:nvPr/>
            </p:nvSpPr>
            <p:spPr>
              <a:xfrm>
                <a:off x="1194783" y="4418872"/>
                <a:ext cx="3470327" cy="830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1.</a:t>
                </a:r>
                <a:r>
                  <a:rPr lang="en-US" sz="1600" b="1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LEKHAMOL V (711524BCB029)</a:t>
                </a:r>
                <a:endParaRPr sz="1600" b="1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2.</a:t>
                </a:r>
                <a:r>
                  <a:rPr lang="en-US" sz="1600" b="1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THULASI Y(711524BCB055)</a:t>
                </a:r>
                <a:endParaRPr sz="1600" b="1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3.SANJAY P (711524BCB047)</a:t>
                </a:r>
                <a:endParaRPr sz="1600" b="1" dirty="0"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1065398" y="3957271"/>
                <a:ext cx="2265842" cy="830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TEAM MEMBERS</a:t>
                </a:r>
                <a:endParaRPr dirty="0"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endParaRPr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97" name="Google Shape;97;p1"/>
            <p:cNvSpPr/>
            <p:nvPr/>
          </p:nvSpPr>
          <p:spPr>
            <a:xfrm>
              <a:off x="8994370" y="1951630"/>
              <a:ext cx="1477853" cy="1477760"/>
            </a:xfrm>
            <a:prstGeom prst="ellipse">
              <a:avLst/>
            </a:prstGeom>
            <a:solidFill>
              <a:srgbClr val="F25E3D"/>
            </a:solidFill>
            <a:ln>
              <a:noFill/>
            </a:ln>
            <a:effectLst>
              <a:outerShdw blurRad="63500" sx="102000" sy="102000">
                <a:srgbClr val="000000">
                  <a:alpha val="7294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1"/>
            <p:cNvGrpSpPr/>
            <p:nvPr/>
          </p:nvGrpSpPr>
          <p:grpSpPr>
            <a:xfrm>
              <a:off x="8600052" y="3957271"/>
              <a:ext cx="2265842" cy="1077139"/>
              <a:chOff x="1065398" y="3957271"/>
              <a:chExt cx="2265842" cy="1077139"/>
            </a:xfrm>
          </p:grpSpPr>
          <p:sp>
            <p:nvSpPr>
              <p:cNvPr id="99" name="Google Shape;99;p1"/>
              <p:cNvSpPr txBox="1"/>
              <p:nvPr/>
            </p:nvSpPr>
            <p:spPr>
              <a:xfrm>
                <a:off x="1065398" y="4426051"/>
                <a:ext cx="2265842" cy="307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endParaRPr dirty="0"/>
              </a:p>
            </p:txBody>
          </p:sp>
          <p:sp>
            <p:nvSpPr>
              <p:cNvPr id="100" name="Google Shape;100;p1"/>
              <p:cNvSpPr txBox="1"/>
              <p:nvPr/>
            </p:nvSpPr>
            <p:spPr>
              <a:xfrm>
                <a:off x="1065398" y="3957271"/>
                <a:ext cx="2265842" cy="1077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SUPERVISOR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endParaRPr lang="en-US"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dirty="0" err="1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Ms.U.PRIYA</a:t>
                </a:r>
                <a:br>
                  <a:rPr lang="en-US" sz="1600" b="1" dirty="0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</a:br>
                <a:r>
                  <a:rPr lang="en-US" sz="1600" b="1" dirty="0" err="1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Asst.Prof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/CSBS</a:t>
                </a:r>
                <a:endParaRPr b="1" dirty="0">
                  <a:latin typeface="Georgia" panose="02040502050405020303" pitchFamily="18" charset="0"/>
                </a:endParaRPr>
              </a:p>
            </p:txBody>
          </p:sp>
        </p:grpSp>
        <p:pic>
          <p:nvPicPr>
            <p:cNvPr id="101" name="Google Shape;101;p1" descr="Related 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74067" y="2398736"/>
              <a:ext cx="583158" cy="5831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" descr="Image result for project icon 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459877" y="2362627"/>
              <a:ext cx="655377" cy="6553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1019175" y="2073275"/>
            <a:ext cx="1020762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IoT-Based Elevator Safety Digital Twin for Realtime Monitoring &amp; </a:t>
            </a:r>
          </a:p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Fault Detection</a:t>
            </a:r>
            <a:endParaRPr sz="20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85825" y="1649412"/>
            <a:ext cx="104044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 OF COMPUTER SCIENCE AND BUSINESS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209800" y="293687"/>
            <a:ext cx="8010525" cy="128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lang="en-US" sz="2000" b="1" i="0" u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KIT-KALAIGNARKARUNANIDHI INSTITUTE OF TECHNOLOGY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lang="en-US" sz="2000" b="1" i="0" u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COIMBATORE - 641402</a:t>
            </a:r>
            <a:endParaRPr sz="1800" b="1" i="0" u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Times New Roman"/>
              <a:buNone/>
            </a:pPr>
            <a: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by AICTE Affiliated to Anna University, Chennai</a:t>
            </a:r>
            <a:b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Accredited With ‘A’ Grade by NAAC &amp; By NBA</a:t>
            </a:r>
            <a:endParaRPr dirty="0"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8125" y="412750"/>
            <a:ext cx="1490662" cy="128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DOMAIN</a:t>
            </a:r>
            <a:endParaRPr dirty="0"/>
          </a:p>
        </p:txBody>
      </p:sp>
      <p:sp>
        <p:nvSpPr>
          <p:cNvPr id="114" name="Google Shape;114;p2"/>
          <p:cNvSpPr txBox="1"/>
          <p:nvPr/>
        </p:nvSpPr>
        <p:spPr>
          <a:xfrm>
            <a:off x="992187" y="1465874"/>
            <a:ext cx="10279062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Internet of Things (IoT)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Digital Twin Technology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Artificial Intelligence (AI)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Machine Learning (ML)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Predictive Maintenance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Real-Time Monitoring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OBJECTIVE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3A310-DDF0-BE7E-C7E4-AB68C066F295}"/>
              </a:ext>
            </a:extLst>
          </p:cNvPr>
          <p:cNvSpPr txBox="1"/>
          <p:nvPr/>
        </p:nvSpPr>
        <p:spPr>
          <a:xfrm>
            <a:off x="1130710" y="1337187"/>
            <a:ext cx="89276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develop a low-cost elevator safety monitoring prototype using IoT sensors.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create a </a:t>
            </a:r>
            <a:r>
              <a:rPr lang="en-IN" sz="2400" b="1" dirty="0"/>
              <a:t>digital twin</a:t>
            </a:r>
            <a:r>
              <a:rPr lang="en-IN" sz="2400" dirty="0"/>
              <a:t> that represents the real-time condition of the physical elevator.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monitor parameters such as vibration, temperature, floor position and door status.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detect abnormal conditions and provide </a:t>
            </a:r>
            <a:r>
              <a:rPr lang="en-IN" sz="2400" b="1" dirty="0"/>
              <a:t>early fault warnings</a:t>
            </a:r>
            <a:r>
              <a:rPr lang="en-IN" sz="24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explore lightweight AI-based anomaly detection for predictive maintenance.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reduce </a:t>
            </a:r>
            <a:r>
              <a:rPr lang="en-IN" sz="2400" b="1" dirty="0"/>
              <a:t>manual inspection </a:t>
            </a:r>
            <a:r>
              <a:rPr lang="en-IN" sz="2400" dirty="0"/>
              <a:t>and </a:t>
            </a:r>
            <a:r>
              <a:rPr lang="en-IN" sz="2400" b="1" dirty="0"/>
              <a:t>improve elevator safety </a:t>
            </a:r>
            <a:r>
              <a:rPr lang="en-IN" sz="2400" dirty="0"/>
              <a:t>and </a:t>
            </a:r>
            <a:r>
              <a:rPr lang="en-IN" sz="2400" b="1" dirty="0"/>
              <a:t>maintenance efficiency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ABSTRACT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00120-8C9E-5296-EB62-EF07D16DB318}"/>
              </a:ext>
            </a:extLst>
          </p:cNvPr>
          <p:cNvSpPr txBox="1"/>
          <p:nvPr/>
        </p:nvSpPr>
        <p:spPr>
          <a:xfrm>
            <a:off x="1091381" y="1764549"/>
            <a:ext cx="99699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Elevator safety is an important concern as mechanical and electrical faults can lead to operational failures and safety risks.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Conventional inspection methods mainly depend on periodic maintenance and manual observation, which may not identify developing faults at an early stage. This project proposes a </a:t>
            </a:r>
            <a:r>
              <a:rPr lang="en-IN" sz="2000" b="1" dirty="0"/>
              <a:t>low-cost IoT-based Elevator Safety Digital Twin</a:t>
            </a:r>
            <a:r>
              <a:rPr lang="en-IN" sz="2000" dirty="0"/>
              <a:t> that continuously monitors the physical elevator prototype using sensors.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An ESP32 collects parameters such as vibration, temperature, floor position and door status and transfers the data to a digital representation of the elevator.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digital twin provides real-time visualization of elevator operating conditions and identifies abnormal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Fault simulation can be incorporated to test conditions such as excessive vibration, door obstruction and abnormal movement.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DE73-086B-70FE-4666-08461816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;p4">
            <a:extLst>
              <a:ext uri="{FF2B5EF4-FFF2-40B4-BE49-F238E27FC236}">
                <a16:creationId xmlns:a16="http://schemas.microsoft.com/office/drawing/2014/main" id="{1ECABD24-DBC0-4373-B409-00FA6B2BFF62}"/>
              </a:ext>
            </a:extLst>
          </p:cNvPr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807A91D6-5B00-9FA3-14BD-C7D8504B9ABE}"/>
              </a:ext>
            </a:extLst>
          </p:cNvPr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73485-6B24-893E-072A-DB0DA21176CE}"/>
              </a:ext>
            </a:extLst>
          </p:cNvPr>
          <p:cNvSpPr txBox="1"/>
          <p:nvPr/>
        </p:nvSpPr>
        <p:spPr>
          <a:xfrm>
            <a:off x="3509962" y="216310"/>
            <a:ext cx="6105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Georgia" panose="02040502050405020303" pitchFamily="18" charset="0"/>
              </a:rPr>
              <a:t>SOFTWARE-BASED ELEVATOR DIGITAL </a:t>
            </a:r>
          </a:p>
          <a:p>
            <a:pPr>
              <a:buNone/>
            </a:pPr>
            <a:r>
              <a:rPr lang="en-IN" sz="2000" dirty="0">
                <a:latin typeface="Georgia" panose="02040502050405020303" pitchFamily="18" charset="0"/>
              </a:rPr>
              <a:t>                    TWIN    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67002-3F5C-E1E7-5DD2-F3CEF0507F1C}"/>
              </a:ext>
            </a:extLst>
          </p:cNvPr>
          <p:cNvSpPr txBox="1"/>
          <p:nvPr/>
        </p:nvSpPr>
        <p:spPr>
          <a:xfrm>
            <a:off x="1415845" y="1018269"/>
            <a:ext cx="895718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/>
              <a:t>Virtual Elevator Model</a:t>
            </a:r>
            <a:endParaRPr lang="en-IN" sz="2000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Simulates elevator movement between multiple floors.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Displays current floor and movement direction.</a:t>
            </a:r>
          </a:p>
          <a:p>
            <a:pPr algn="just">
              <a:buNone/>
            </a:pPr>
            <a:r>
              <a:rPr lang="en-IN" sz="2000" b="1" dirty="0"/>
              <a:t>Sensor Data Simulation</a:t>
            </a:r>
            <a:endParaRPr lang="en-IN" sz="2000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Generates temperature, vibration, motor current, and door status readings.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Updates sensor values at regular intervals.</a:t>
            </a:r>
          </a:p>
          <a:p>
            <a:pPr algn="just">
              <a:buNone/>
            </a:pPr>
            <a:r>
              <a:rPr lang="en-IN" sz="2000" b="1" dirty="0"/>
              <a:t>Fault Simulation</a:t>
            </a:r>
            <a:endParaRPr lang="en-IN" sz="2000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Simulates excessive vibration and door malfunction.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Generates alerts for abnormal conditions.</a:t>
            </a:r>
          </a:p>
          <a:p>
            <a:pPr algn="just">
              <a:buNone/>
            </a:pPr>
            <a:r>
              <a:rPr lang="en-IN" sz="2000" b="1" dirty="0"/>
              <a:t>Real-Time Dashboard</a:t>
            </a:r>
            <a:endParaRPr lang="en-IN" sz="2000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Displays elevator status and live sensor readings.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Visualizes elevator movement and fault alerts.</a:t>
            </a:r>
          </a:p>
          <a:p>
            <a:pPr algn="just">
              <a:buNone/>
            </a:pPr>
            <a:r>
              <a:rPr lang="en-IN" sz="2000" b="1" dirty="0"/>
              <a:t>Backend Integration</a:t>
            </a:r>
            <a:endParaRPr lang="en-IN" sz="2000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React.js for simulation and visualization.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Spring Boot REST APIs for telemetry processing and storage.</a:t>
            </a:r>
          </a:p>
        </p:txBody>
      </p:sp>
    </p:spTree>
    <p:extLst>
      <p:ext uri="{BB962C8B-B14F-4D97-AF65-F5344CB8AC3E}">
        <p14:creationId xmlns:p14="http://schemas.microsoft.com/office/powerpoint/2010/main" val="63839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;p4">
            <a:extLst>
              <a:ext uri="{FF2B5EF4-FFF2-40B4-BE49-F238E27FC236}">
                <a16:creationId xmlns:a16="http://schemas.microsoft.com/office/drawing/2014/main" id="{E8379BE1-B4BA-B2E7-5037-20CD353C7CDC}"/>
              </a:ext>
            </a:extLst>
          </p:cNvPr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57357BB5-3838-278B-63B9-3B688738BE6E}"/>
              </a:ext>
            </a:extLst>
          </p:cNvPr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35DBE-B1CE-BE28-F69B-DCC04A0F9D46}"/>
              </a:ext>
            </a:extLst>
          </p:cNvPr>
          <p:cNvSpPr txBox="1"/>
          <p:nvPr/>
        </p:nvSpPr>
        <p:spPr>
          <a:xfrm>
            <a:off x="3401961" y="30052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SOFTWARE-BASED ELEVATOR DIGITAL TWIN SIMULATION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09D5E9-528A-D616-449C-706100C6B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55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1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7;p4">
            <a:extLst>
              <a:ext uri="{FF2B5EF4-FFF2-40B4-BE49-F238E27FC236}">
                <a16:creationId xmlns:a16="http://schemas.microsoft.com/office/drawing/2014/main" id="{2D988CDC-CCE5-E499-E0E6-50FE0276D10A}"/>
              </a:ext>
            </a:extLst>
          </p:cNvPr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0A496429-6CEE-5E24-0936-E47BDF6F61DC}"/>
              </a:ext>
            </a:extLst>
          </p:cNvPr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8C123-3B80-FD6C-9A1B-BB146AE9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500249"/>
            <a:ext cx="11651226" cy="585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6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/>
          </a:p>
        </p:txBody>
      </p:sp>
      <p:graphicFrame>
        <p:nvGraphicFramePr>
          <p:cNvPr id="138" name="Google Shape;138;p5"/>
          <p:cNvGraphicFramePr/>
          <p:nvPr>
            <p:extLst>
              <p:ext uri="{D42A27DB-BD31-4B8C-83A1-F6EECF244321}">
                <p14:modId xmlns:p14="http://schemas.microsoft.com/office/powerpoint/2010/main" val="4037801561"/>
              </p:ext>
            </p:extLst>
          </p:nvPr>
        </p:nvGraphicFramePr>
        <p:xfrm>
          <a:off x="992187" y="1149350"/>
          <a:ext cx="10502900" cy="5201389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0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Elevator fault diagnosis based on digital twin and PINNs-e-RGCN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Scientific Reports</a:t>
                      </a:r>
                      <a:r>
                        <a:rPr lang="en-IN" sz="2400" dirty="0"/>
                        <a:t>, 2024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Digital Twin, PINNs, e-RGCN, vibration modelling, fault diagnosis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An IoT-Based Real-Time Elevator Health Monitoring System Using LSTM Autoencoder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IEEE Sensors Letters</a:t>
                      </a:r>
                      <a:r>
                        <a:rPr lang="en-IN" sz="2400" dirty="0"/>
                        <a:t>, 2026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IoT, accelerometer, wireless communication, LSTM Autoencoder, anomaly detection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REVIEW….</a:t>
            </a:r>
            <a:endParaRPr/>
          </a:p>
        </p:txBody>
      </p:sp>
      <p:graphicFrame>
        <p:nvGraphicFramePr>
          <p:cNvPr id="146" name="Google Shape;146;p6"/>
          <p:cNvGraphicFramePr/>
          <p:nvPr>
            <p:extLst>
              <p:ext uri="{D42A27DB-BD31-4B8C-83A1-F6EECF244321}">
                <p14:modId xmlns:p14="http://schemas.microsoft.com/office/powerpoint/2010/main" val="808172235"/>
              </p:ext>
            </p:extLst>
          </p:nvPr>
        </p:nvGraphicFramePr>
        <p:xfrm>
          <a:off x="996950" y="1330325"/>
          <a:ext cx="10585450" cy="509905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Elevator Running Fault Monitoring Method Based on Vibration Signal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Shock and Vibration</a:t>
                      </a:r>
                      <a:r>
                        <a:rPr lang="en-IN" sz="2400" dirty="0"/>
                        <a:t>, 2021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Vibration signals, wavelet transform, PCA, 1-D CNN, fault classification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Non-contact Optical Vibration Sensing and Dual-Branch Deep Learning for Intelligent Elevator Fault Diagnosis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Sensors and Actuators A: Physical</a:t>
                      </a:r>
                      <a:r>
                        <a:rPr lang="en-IN" sz="2400" dirty="0"/>
                        <a:t>, 2026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Optical vibration sensing, LSTM-CNN, deep learning, fault classification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REVIEW….</a:t>
            </a:r>
            <a:endParaRPr/>
          </a:p>
        </p:txBody>
      </p:sp>
      <p:graphicFrame>
        <p:nvGraphicFramePr>
          <p:cNvPr id="154" name="Google Shape;154;p7"/>
          <p:cNvGraphicFramePr/>
          <p:nvPr>
            <p:extLst>
              <p:ext uri="{D42A27DB-BD31-4B8C-83A1-F6EECF244321}">
                <p14:modId xmlns:p14="http://schemas.microsoft.com/office/powerpoint/2010/main" val="431874334"/>
              </p:ext>
            </p:extLst>
          </p:nvPr>
        </p:nvGraphicFramePr>
        <p:xfrm>
          <a:off x="996950" y="1330325"/>
          <a:ext cx="10585450" cy="482440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Digital Twin-Based Fault Diagnosis and Predictive Maintenance for Industrial Systems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Digital Twin, IoT sensors, real-time monitoring, predictive maintenance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AI-Based Intelligent Condition Monitoring of Elevator Systems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Machine Learning, sensor data analysis, anomaly detection, condition monitoring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PROPOSED BLOCK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5EAB6-CB01-526A-5C12-F7AB708C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864" y="921802"/>
            <a:ext cx="3898233" cy="5478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350075" y="3703214"/>
            <a:ext cx="11360400" cy="84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11430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2649125" y="547062"/>
            <a:ext cx="93981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DETAILS OF PROPOSED SYSTEM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F4FD6-3248-AD7B-7015-FDBE1B8BAD9D}"/>
              </a:ext>
            </a:extLst>
          </p:cNvPr>
          <p:cNvSpPr txBox="1"/>
          <p:nvPr/>
        </p:nvSpPr>
        <p:spPr>
          <a:xfrm>
            <a:off x="946483" y="1459832"/>
            <a:ext cx="95290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Physical Elevator Prototype</a:t>
            </a:r>
          </a:p>
          <a:p>
            <a:pPr>
              <a:buNone/>
            </a:pPr>
            <a:r>
              <a:rPr lang="en-IN" sz="2400" dirty="0"/>
              <a:t>A small-scale elevator model will be constructed using low-cost materials. A DC geared motor will control the movement of the elevator cabin between floors.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Sensor Module</a:t>
            </a:r>
          </a:p>
          <a:p>
            <a:pPr>
              <a:buNone/>
            </a:pPr>
            <a:r>
              <a:rPr lang="en-IN" sz="2400" dirty="0"/>
              <a:t>Sensors will continuously collect elevator operating parameters: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Vibration sensor</a:t>
            </a:r>
            <a:r>
              <a:rPr lang="en-IN" sz="2400" dirty="0"/>
              <a:t> → detects abnormal vibration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Temperature sensor</a:t>
            </a:r>
            <a:r>
              <a:rPr lang="en-IN" sz="2400" dirty="0"/>
              <a:t> → monitors overheating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IR sensor</a:t>
            </a:r>
            <a:r>
              <a:rPr lang="en-IN" sz="2400" dirty="0"/>
              <a:t> → detects floor position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IR obstacle sensor</a:t>
            </a:r>
            <a:r>
              <a:rPr lang="en-IN" sz="2400" dirty="0"/>
              <a:t> → detects door obstruction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Optional current sensor</a:t>
            </a:r>
            <a:r>
              <a:rPr lang="en-IN" sz="2400" dirty="0"/>
              <a:t> → monitors motor current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/>
          </a:p>
        </p:txBody>
      </p:sp>
      <p:graphicFrame>
        <p:nvGraphicFramePr>
          <p:cNvPr id="205" name="Google Shape;205;p14"/>
          <p:cNvGraphicFramePr/>
          <p:nvPr>
            <p:extLst>
              <p:ext uri="{D42A27DB-BD31-4B8C-83A1-F6EECF244321}">
                <p14:modId xmlns:p14="http://schemas.microsoft.com/office/powerpoint/2010/main" val="1960626540"/>
              </p:ext>
            </p:extLst>
          </p:nvPr>
        </p:nvGraphicFramePr>
        <p:xfrm>
          <a:off x="557198" y="1090863"/>
          <a:ext cx="10642613" cy="523137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904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 DETAILS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35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Q. Wang, L. Chen, G. Xiao, P. Wang, Y. Gu, and J. Lu, </a:t>
                      </a:r>
                      <a:r>
                        <a:rPr lang="en-IN" sz="1600" b="1" dirty="0"/>
                        <a:t>“Elevator fault diagnosis based on digital twin and PINNs-e-RGCN,”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Scientific Reports</a:t>
                      </a:r>
                      <a:r>
                        <a:rPr lang="en-IN" sz="1600" dirty="0"/>
                        <a:t>, vol. 14, Art. no. 30713, 2024, </a:t>
                      </a:r>
                      <a:r>
                        <a:rPr lang="en-IN" sz="1600" dirty="0" err="1"/>
                        <a:t>doi</a:t>
                      </a:r>
                      <a:r>
                        <a:rPr lang="en-IN" sz="1600" dirty="0"/>
                        <a:t>: 10.1038/s41598-024-78784-7. </a:t>
                      </a: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35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Y. Kumar, M. A. Khan, and A. Adhikary, </a:t>
                      </a:r>
                      <a:r>
                        <a:rPr lang="en-IN" sz="1600" b="1" dirty="0"/>
                        <a:t>“An IoT-Based Real-Time Elevator Health Monitoring System Using LSTM Autoencoder,”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IEEE Sensors Letters</a:t>
                      </a:r>
                      <a:r>
                        <a:rPr lang="en-IN" sz="1600" dirty="0"/>
                        <a:t>, 2026.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0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dirty="0"/>
                        <a:t>Elevator Running Fault Monitoring Method Based on Vibration Signal,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Shock and Vibration</a:t>
                      </a:r>
                      <a:r>
                        <a:rPr lang="en-IN" sz="1600" dirty="0"/>
                        <a:t>, 2021.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08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IN" sz="1600" b="1" dirty="0"/>
                        <a:t>“Real-Time Intelligent Elevator Monitoring and Diagnosis: Case Studies and Solutions with Applications Using Artificial Intelligence,”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Computers &amp; Electrical Engineering</a:t>
                      </a:r>
                      <a:r>
                        <a:rPr lang="en-IN" sz="1600" dirty="0"/>
                        <a:t>, 2022.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08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IN" sz="1600" dirty="0"/>
                        <a:t>J. Luo et al., </a:t>
                      </a:r>
                      <a:r>
                        <a:rPr lang="en-IN" sz="1600" b="1" dirty="0"/>
                        <a:t>“Non-contact optical vibration sensing and dual-branch deep learning for intelligent elevator fault diagnosis,”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Sensors and Actuators A: Physical</a:t>
                      </a:r>
                      <a:r>
                        <a:rPr lang="en-IN" sz="1600" dirty="0"/>
                        <a:t>, 2026.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51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600" i="1" dirty="0"/>
                        <a:t>Deep Learning Methods for Fault Early Warning of Elevator Traction Systems with Multi-Source Data Fusion</a:t>
                      </a:r>
                      <a:r>
                        <a:rPr lang="en-IN" sz="1600" dirty="0"/>
                        <a:t> — </a:t>
                      </a:r>
                      <a:r>
                        <a:rPr lang="en-IN" sz="1600" b="1" dirty="0"/>
                        <a:t>Discover Applied Sciences, Springer, 2026</a:t>
                      </a: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11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i="1" dirty="0"/>
                        <a:t>Deep Learning Methods for Fault Early Warning of Elevator Traction Systems with Multi-Source Data Fusion</a:t>
                      </a:r>
                      <a:r>
                        <a:rPr lang="en-IN" sz="1600" dirty="0"/>
                        <a:t> — </a:t>
                      </a:r>
                      <a:r>
                        <a:rPr lang="en-IN" sz="1600" b="1" dirty="0"/>
                        <a:t>Discover Applied Sciences, Springer, 2026</a:t>
                      </a:r>
                      <a:endParaRPr sz="16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rgbClr val="000000"/>
      </a:dk1>
      <a:lt1>
        <a:srgbClr val="FFFFFF"/>
      </a:lt1>
      <a:dk2>
        <a:srgbClr val="44546A"/>
      </a:dk2>
      <a:lt2>
        <a:srgbClr val="7030A0"/>
      </a:lt2>
      <a:accent1>
        <a:srgbClr val="F23558"/>
      </a:accent1>
      <a:accent2>
        <a:srgbClr val="0D7AD9"/>
      </a:accent2>
      <a:accent3>
        <a:srgbClr val="75B503"/>
      </a:accent3>
      <a:accent4>
        <a:srgbClr val="F2A950"/>
      </a:accent4>
      <a:accent5>
        <a:srgbClr val="F25E3D"/>
      </a:accent5>
      <a:accent6>
        <a:srgbClr val="00B0F0"/>
      </a:accent6>
      <a:hlink>
        <a:srgbClr val="BF2424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910</Words>
  <Application>Microsoft Office PowerPoint</Application>
  <PresentationFormat>Widescreen</PresentationFormat>
  <Paragraphs>120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Georgia</vt:lpstr>
      <vt:lpstr>Times New Roman</vt:lpstr>
      <vt:lpstr>Calibri</vt:lpstr>
      <vt:lpstr>Wingdings</vt:lpstr>
      <vt:lpstr>Arial</vt:lpstr>
      <vt:lpstr>Book Antiqua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LEKHA MOL</cp:lastModifiedBy>
  <cp:revision>8</cp:revision>
  <dcterms:created xsi:type="dcterms:W3CDTF">2019-12-06T03:59:31Z</dcterms:created>
  <dcterms:modified xsi:type="dcterms:W3CDTF">2026-10-14T06:12:31Z</dcterms:modified>
</cp:coreProperties>
</file>