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6" r:id="rId10"/>
    <p:sldId id="269" r:id="rId11"/>
  </p:sldIdLst>
  <p:sldSz cx="12192000" cy="6858000"/>
  <p:notesSz cx="6858000" cy="9144000"/>
  <p:embeddedFontLst>
    <p:embeddedFont>
      <p:font typeface="Book Antiqua" panose="02040602050305030304" pitchFamily="18" charset="0"/>
      <p:regular r:id="rId13"/>
      <p:bold r:id="rId14"/>
      <p:italic r:id="rId15"/>
      <p:boldItalic r:id="rId16"/>
    </p:embeddedFont>
    <p:embeddedFont>
      <p:font typeface="Georgia" panose="02040502050405020303" pitchFamily="18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0" roundtripDataSignature="AMtx7mjqlVfWdu2U9ZrtiM122pZXgd/B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2D1A86-093A-4512-976E-FBDAAB31D635}" v="1" dt="2026-09-09T05:20:15.201"/>
  </p1510:revLst>
</p1510:revInfo>
</file>

<file path=ppt/tableStyles.xml><?xml version="1.0" encoding="utf-8"?>
<a:tblStyleLst xmlns:a="http://schemas.openxmlformats.org/drawingml/2006/main" def="{7F5DC531-3BBC-4B7F-937C-E1510FDDE53F}">
  <a:tblStyle styleId="{7F5DC531-3BBC-4B7F-937C-E1510FDDE53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30" Type="http://customschemas.google.com/relationships/presentationmetadata" Target="metadata"/><Relationship Id="rId35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3343077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385427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52406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57403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3759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635886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594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03706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042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622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53175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0"/>
          <p:cNvSpPr txBox="1">
            <a:spLocks noGrp="1"/>
          </p:cNvSpPr>
          <p:nvPr>
            <p:ph type="body" idx="1"/>
          </p:nvPr>
        </p:nvSpPr>
        <p:spPr>
          <a:xfrm rot="5400000">
            <a:off x="3920332" y="-1256507"/>
            <a:ext cx="4351337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7" name="Google Shape;3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43" name="Google Shape;43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4" name="Google Shape;44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5" name="Google Shape;55;p2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0" y="6632575"/>
            <a:ext cx="12192000" cy="225425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3509962" y="-6350"/>
            <a:ext cx="5172075" cy="128587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6" name="Google Shape;86;p1"/>
          <p:cNvGrpSpPr/>
          <p:nvPr/>
        </p:nvGrpSpPr>
        <p:grpSpPr>
          <a:xfrm>
            <a:off x="1314450" y="3203575"/>
            <a:ext cx="9801225" cy="3298287"/>
            <a:chOff x="1065398" y="1951630"/>
            <a:chExt cx="9800496" cy="3298168"/>
          </a:xfrm>
        </p:grpSpPr>
        <p:grpSp>
          <p:nvGrpSpPr>
            <p:cNvPr id="87" name="Google Shape;87;p1"/>
            <p:cNvGrpSpPr/>
            <p:nvPr/>
          </p:nvGrpSpPr>
          <p:grpSpPr>
            <a:xfrm>
              <a:off x="1459069" y="1951630"/>
              <a:ext cx="1477852" cy="1477760"/>
              <a:chOff x="1446097" y="1951630"/>
              <a:chExt cx="1477852" cy="1477760"/>
            </a:xfrm>
          </p:grpSpPr>
          <p:sp>
            <p:nvSpPr>
              <p:cNvPr id="88" name="Google Shape;88;p1"/>
              <p:cNvSpPr/>
              <p:nvPr/>
            </p:nvSpPr>
            <p:spPr>
              <a:xfrm>
                <a:off x="1446097" y="1951630"/>
                <a:ext cx="1477852" cy="1477760"/>
              </a:xfrm>
              <a:prstGeom prst="ellipse">
                <a:avLst/>
              </a:prstGeom>
              <a:solidFill>
                <a:srgbClr val="F25E3D"/>
              </a:solidFill>
              <a:ln>
                <a:noFill/>
              </a:ln>
              <a:effectLst>
                <a:outerShdw blurRad="63500" sx="102000" sy="102000">
                  <a:srgbClr val="000000">
                    <a:alpha val="72941"/>
                  </a:srgbClr>
                </a:outerShdw>
              </a:effectLst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89" name="Google Shape;89;p1" descr="Related image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891797" y="2396765"/>
                <a:ext cx="587101" cy="5871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0" name="Google Shape;90;p1"/>
            <p:cNvGrpSpPr/>
            <p:nvPr/>
          </p:nvGrpSpPr>
          <p:grpSpPr>
            <a:xfrm>
              <a:off x="1065398" y="3957271"/>
              <a:ext cx="2265842" cy="776557"/>
              <a:chOff x="1065398" y="3957271"/>
              <a:chExt cx="2265842" cy="776557"/>
            </a:xfrm>
          </p:grpSpPr>
          <p:sp>
            <p:nvSpPr>
              <p:cNvPr id="91" name="Google Shape;91;p1"/>
              <p:cNvSpPr txBox="1"/>
              <p:nvPr/>
            </p:nvSpPr>
            <p:spPr>
              <a:xfrm>
                <a:off x="1065398" y="4426051"/>
                <a:ext cx="2265842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" name="Google Shape;92;p1"/>
              <p:cNvSpPr txBox="1"/>
              <p:nvPr/>
            </p:nvSpPr>
            <p:spPr>
              <a:xfrm>
                <a:off x="1065398" y="3957271"/>
                <a:ext cx="2265842" cy="3385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Georgia"/>
                  <a:buNone/>
                </a:pPr>
                <a:r>
                  <a:rPr lang="en-US" sz="1600" b="1" i="0" u="none" dirty="0">
                    <a:solidFill>
                      <a:schemeClr val="dk1"/>
                    </a:solidFill>
                    <a:latin typeface="Georgia"/>
                    <a:ea typeface="Georgia"/>
                    <a:cs typeface="Georgia"/>
                    <a:sym typeface="Georgia"/>
                  </a:rPr>
                  <a:t>BATCH NO</a:t>
                </a:r>
                <a:r>
                  <a:rPr lang="en-US" sz="1600" b="1" dirty="0">
                    <a:solidFill>
                      <a:schemeClr val="dk1"/>
                    </a:solidFill>
                    <a:latin typeface="Georgia"/>
                    <a:ea typeface="Georgia"/>
                    <a:cs typeface="Georgia"/>
                    <a:sym typeface="Georgia"/>
                  </a:rPr>
                  <a:t>:</a:t>
                </a:r>
                <a:r>
                  <a:rPr lang="en-US" sz="1600" b="1" dirty="0">
                    <a:solidFill>
                      <a:schemeClr val="dk1"/>
                    </a:solidFill>
                    <a:latin typeface="+mn-lt"/>
                    <a:ea typeface="Georgia"/>
                    <a:cs typeface="Georgia"/>
                    <a:sym typeface="Georgia"/>
                  </a:rPr>
                  <a:t>1</a:t>
                </a:r>
                <a:r>
                  <a:rPr lang="en-US" sz="1600" b="1" dirty="0">
                    <a:solidFill>
                      <a:schemeClr val="dk1"/>
                    </a:solidFill>
                    <a:latin typeface="Georgia"/>
                    <a:ea typeface="Georgia"/>
                    <a:cs typeface="Georgia"/>
                    <a:sym typeface="Georgia"/>
                  </a:rPr>
                  <a:t>6</a:t>
                </a:r>
                <a:endParaRPr dirty="0"/>
              </a:p>
            </p:txBody>
          </p:sp>
        </p:grpSp>
        <p:sp>
          <p:nvSpPr>
            <p:cNvPr id="93" name="Google Shape;93;p1"/>
            <p:cNvSpPr/>
            <p:nvPr/>
          </p:nvSpPr>
          <p:spPr>
            <a:xfrm>
              <a:off x="5227513" y="1951630"/>
              <a:ext cx="1476265" cy="1477760"/>
            </a:xfrm>
            <a:prstGeom prst="ellipse">
              <a:avLst/>
            </a:prstGeom>
            <a:solidFill>
              <a:srgbClr val="F25E3D"/>
            </a:solidFill>
            <a:ln>
              <a:noFill/>
            </a:ln>
            <a:effectLst>
              <a:outerShdw blurRad="63500" sx="102000" sy="102000">
                <a:srgbClr val="000000">
                  <a:alpha val="7294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" name="Google Shape;94;p1"/>
            <p:cNvGrpSpPr/>
            <p:nvPr/>
          </p:nvGrpSpPr>
          <p:grpSpPr>
            <a:xfrm>
              <a:off x="4832725" y="3957271"/>
              <a:ext cx="3599712" cy="1292527"/>
              <a:chOff x="1065398" y="3957271"/>
              <a:chExt cx="3599712" cy="1292527"/>
            </a:xfrm>
          </p:grpSpPr>
          <p:sp>
            <p:nvSpPr>
              <p:cNvPr id="95" name="Google Shape;95;p1"/>
              <p:cNvSpPr txBox="1"/>
              <p:nvPr/>
            </p:nvSpPr>
            <p:spPr>
              <a:xfrm>
                <a:off x="1194783" y="4418872"/>
                <a:ext cx="3470327" cy="8309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Book Antiqua"/>
                  <a:buNone/>
                </a:pPr>
                <a:r>
                  <a:rPr lang="en-US" sz="1600" b="1" i="0" u="none" dirty="0">
                    <a:solidFill>
                      <a:schemeClr val="dk1"/>
                    </a:solidFill>
                    <a:latin typeface="Book Antiqua"/>
                    <a:ea typeface="Book Antiqua"/>
                    <a:cs typeface="Book Antiqua"/>
                    <a:sym typeface="Book Antiqua"/>
                  </a:rPr>
                  <a:t>1.</a:t>
                </a:r>
                <a:r>
                  <a:rPr lang="en-US" sz="1600" b="1" dirty="0">
                    <a:solidFill>
                      <a:schemeClr val="dk1"/>
                    </a:solidFill>
                    <a:latin typeface="Book Antiqua"/>
                    <a:ea typeface="Book Antiqua"/>
                    <a:cs typeface="Book Antiqua"/>
                    <a:sym typeface="Book Antiqua"/>
                  </a:rPr>
                  <a:t>LEKHAMOL V (711524BCB029)</a:t>
                </a:r>
                <a:endParaRPr sz="1600" b="1" dirty="0"/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Book Antiqua"/>
                  <a:buNone/>
                </a:pPr>
                <a:r>
                  <a:rPr lang="en-US" sz="1600" b="1" i="0" u="none" dirty="0">
                    <a:solidFill>
                      <a:schemeClr val="dk1"/>
                    </a:solidFill>
                    <a:latin typeface="Book Antiqua"/>
                    <a:ea typeface="Book Antiqua"/>
                    <a:cs typeface="Book Antiqua"/>
                    <a:sym typeface="Book Antiqua"/>
                  </a:rPr>
                  <a:t>2.</a:t>
                </a:r>
                <a:r>
                  <a:rPr lang="en-US" sz="1600" b="1" dirty="0">
                    <a:solidFill>
                      <a:schemeClr val="dk1"/>
                    </a:solidFill>
                    <a:latin typeface="Book Antiqua"/>
                    <a:ea typeface="Book Antiqua"/>
                    <a:cs typeface="Book Antiqua"/>
                    <a:sym typeface="Book Antiqua"/>
                  </a:rPr>
                  <a:t>THULASI Y(711524BCB055)</a:t>
                </a:r>
                <a:endParaRPr sz="1600" b="1" dirty="0"/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Book Antiqua"/>
                  <a:buNone/>
                </a:pPr>
                <a:r>
                  <a:rPr lang="en-US" sz="1600" b="1" i="0" u="none" dirty="0">
                    <a:solidFill>
                      <a:schemeClr val="dk1"/>
                    </a:solidFill>
                    <a:latin typeface="Book Antiqua"/>
                    <a:ea typeface="Book Antiqua"/>
                    <a:cs typeface="Book Antiqua"/>
                    <a:sym typeface="Book Antiqua"/>
                  </a:rPr>
                  <a:t>3.SANJAY P (711524BCB047)</a:t>
                </a:r>
                <a:endParaRPr sz="1600" b="1" dirty="0"/>
              </a:p>
            </p:txBody>
          </p:sp>
          <p:sp>
            <p:nvSpPr>
              <p:cNvPr id="96" name="Google Shape;96;p1"/>
              <p:cNvSpPr txBox="1"/>
              <p:nvPr/>
            </p:nvSpPr>
            <p:spPr>
              <a:xfrm>
                <a:off x="1065398" y="3957271"/>
                <a:ext cx="2265842" cy="8308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Georgia"/>
                  <a:buNone/>
                </a:pPr>
                <a:r>
                  <a:rPr lang="en-US" sz="1600" b="1" i="0" u="none" dirty="0">
                    <a:solidFill>
                      <a:schemeClr val="dk1"/>
                    </a:solidFill>
                    <a:latin typeface="Georgia"/>
                    <a:ea typeface="Georgia"/>
                    <a:cs typeface="Georgia"/>
                    <a:sym typeface="Georgia"/>
                  </a:rPr>
                  <a:t>TEAM MEMBERS</a:t>
                </a:r>
                <a:endParaRPr dirty="0"/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Arial"/>
                  <a:buNone/>
                </a:pPr>
                <a:endParaRPr sz="1600" b="1" i="0" u="none" dirty="0">
                  <a:solidFill>
                    <a:schemeClr val="dk1"/>
                  </a:solidFill>
                  <a:latin typeface="Georgia"/>
                  <a:ea typeface="Georgia"/>
                  <a:cs typeface="Georgia"/>
                  <a:sym typeface="Georgia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b="1" i="0" u="none" dirty="0">
                  <a:solidFill>
                    <a:schemeClr val="dk1"/>
                  </a:solidFill>
                  <a:latin typeface="Georgia"/>
                  <a:ea typeface="Georgia"/>
                  <a:cs typeface="Georgia"/>
                  <a:sym typeface="Georgia"/>
                </a:endParaRPr>
              </a:p>
            </p:txBody>
          </p:sp>
        </p:grpSp>
        <p:sp>
          <p:nvSpPr>
            <p:cNvPr id="97" name="Google Shape;97;p1"/>
            <p:cNvSpPr/>
            <p:nvPr/>
          </p:nvSpPr>
          <p:spPr>
            <a:xfrm>
              <a:off x="8994370" y="1951630"/>
              <a:ext cx="1477853" cy="1477760"/>
            </a:xfrm>
            <a:prstGeom prst="ellipse">
              <a:avLst/>
            </a:prstGeom>
            <a:solidFill>
              <a:srgbClr val="F25E3D"/>
            </a:solidFill>
            <a:ln>
              <a:noFill/>
            </a:ln>
            <a:effectLst>
              <a:outerShdw blurRad="63500" sx="102000" sy="102000">
                <a:srgbClr val="000000">
                  <a:alpha val="7294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8" name="Google Shape;98;p1"/>
            <p:cNvGrpSpPr/>
            <p:nvPr/>
          </p:nvGrpSpPr>
          <p:grpSpPr>
            <a:xfrm>
              <a:off x="8600052" y="3957271"/>
              <a:ext cx="2265842" cy="1077139"/>
              <a:chOff x="1065398" y="3957271"/>
              <a:chExt cx="2265842" cy="1077139"/>
            </a:xfrm>
          </p:grpSpPr>
          <p:sp>
            <p:nvSpPr>
              <p:cNvPr id="99" name="Google Shape;99;p1"/>
              <p:cNvSpPr txBox="1"/>
              <p:nvPr/>
            </p:nvSpPr>
            <p:spPr>
              <a:xfrm>
                <a:off x="1065398" y="4426051"/>
                <a:ext cx="2265842" cy="307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Book Antiqua"/>
                  <a:buNone/>
                </a:pPr>
                <a:endParaRPr dirty="0"/>
              </a:p>
            </p:txBody>
          </p:sp>
          <p:sp>
            <p:nvSpPr>
              <p:cNvPr id="100" name="Google Shape;100;p1"/>
              <p:cNvSpPr txBox="1"/>
              <p:nvPr/>
            </p:nvSpPr>
            <p:spPr>
              <a:xfrm>
                <a:off x="1065398" y="3957271"/>
                <a:ext cx="2265842" cy="10771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Georgia"/>
                  <a:buNone/>
                </a:pPr>
                <a:r>
                  <a:rPr lang="en-US" sz="1600" b="1" i="0" u="none" dirty="0">
                    <a:solidFill>
                      <a:schemeClr val="dk1"/>
                    </a:solidFill>
                    <a:latin typeface="Georgia"/>
                    <a:ea typeface="Georgia"/>
                    <a:cs typeface="Georgia"/>
                    <a:sym typeface="Georgia"/>
                  </a:rPr>
                  <a:t>SUPERVISOR</a:t>
                </a: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Georgia"/>
                  <a:buNone/>
                </a:pPr>
                <a:endParaRPr lang="en-US" sz="1600" b="1" i="0" u="none" dirty="0">
                  <a:solidFill>
                    <a:schemeClr val="dk1"/>
                  </a:solidFill>
                  <a:latin typeface="Georgia"/>
                  <a:ea typeface="Georgia"/>
                  <a:cs typeface="Georgia"/>
                  <a:sym typeface="Georgia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Georgia"/>
                  <a:buNone/>
                </a:pPr>
                <a:r>
                  <a:rPr lang="en-US" sz="1600" b="1" dirty="0" err="1">
                    <a:solidFill>
                      <a:schemeClr val="dk1"/>
                    </a:solidFill>
                    <a:latin typeface="Georgia" panose="02040502050405020303" pitchFamily="18" charset="0"/>
                    <a:sym typeface="Georgia"/>
                  </a:rPr>
                  <a:t>Ms.U.PRIYA</a:t>
                </a:r>
                <a:br>
                  <a:rPr lang="en-US" sz="1600" b="1" dirty="0">
                    <a:solidFill>
                      <a:schemeClr val="dk1"/>
                    </a:solidFill>
                    <a:latin typeface="Georgia" panose="02040502050405020303" pitchFamily="18" charset="0"/>
                    <a:sym typeface="Georgia"/>
                  </a:rPr>
                </a:br>
                <a:r>
                  <a:rPr lang="en-US" sz="1600" b="1" dirty="0" err="1">
                    <a:solidFill>
                      <a:schemeClr val="dk1"/>
                    </a:solidFill>
                    <a:latin typeface="Georgia" panose="02040502050405020303" pitchFamily="18" charset="0"/>
                    <a:sym typeface="Georgia"/>
                  </a:rPr>
                  <a:t>Asst.Prof</a:t>
                </a:r>
                <a:r>
                  <a:rPr lang="en-US" sz="1600" b="1" dirty="0">
                    <a:solidFill>
                      <a:schemeClr val="dk1"/>
                    </a:solidFill>
                    <a:latin typeface="Georgia" panose="02040502050405020303" pitchFamily="18" charset="0"/>
                    <a:sym typeface="Georgia"/>
                  </a:rPr>
                  <a:t>/CSBS</a:t>
                </a:r>
                <a:endParaRPr b="1" dirty="0">
                  <a:latin typeface="Georgia" panose="02040502050405020303" pitchFamily="18" charset="0"/>
                </a:endParaRPr>
              </a:p>
            </p:txBody>
          </p:sp>
        </p:grpSp>
        <p:pic>
          <p:nvPicPr>
            <p:cNvPr id="101" name="Google Shape;101;p1" descr="Related image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674067" y="2398736"/>
              <a:ext cx="583158" cy="5831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2" name="Google Shape;102;p1" descr="Image result for project icon 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9459877" y="2362627"/>
              <a:ext cx="655377" cy="6553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3" name="Google Shape;103;p1"/>
          <p:cNvSpPr txBox="1"/>
          <p:nvPr/>
        </p:nvSpPr>
        <p:spPr>
          <a:xfrm>
            <a:off x="1019175" y="2073275"/>
            <a:ext cx="10207625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Low-Cost IoT-Based Elevator Safety Digital Twin for Realtime Monitoring &amp; </a:t>
            </a:r>
          </a:p>
          <a:p>
            <a:pPr lvl="0" algn="ctr"/>
            <a:r>
              <a:rPr lang="en-US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Predictive Fault Detection</a:t>
            </a:r>
            <a:endParaRPr sz="2000" b="1" i="0" u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" name="Google Shape;104;p1"/>
          <p:cNvSpPr txBox="1"/>
          <p:nvPr/>
        </p:nvSpPr>
        <p:spPr>
          <a:xfrm>
            <a:off x="885825" y="1649412"/>
            <a:ext cx="10404475" cy="369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1" i="0" u="none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DEPARTMENT OF COMPUTER SCIENCE AND BUSINESS SYSTEMS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Google Shape;105;p1"/>
          <p:cNvSpPr txBox="1"/>
          <p:nvPr/>
        </p:nvSpPr>
        <p:spPr>
          <a:xfrm>
            <a:off x="2209800" y="293687"/>
            <a:ext cx="8010525" cy="1287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imes New Roman"/>
              <a:buNone/>
            </a:pPr>
            <a:r>
              <a:rPr lang="en-US" sz="2000" b="1" i="0" u="none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KIT-KALAIGNARKARUNANIDHI INSTITUTE OF TECHNOLOGY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imes New Roman"/>
              <a:buNone/>
            </a:pPr>
            <a:r>
              <a:rPr lang="en-US" sz="2000" b="1" i="0" u="none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COIMBATORE - 641402</a:t>
            </a:r>
            <a:endParaRPr sz="1800" b="1" i="0" u="none" dirty="0">
              <a:solidFill>
                <a:schemeClr val="accen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5F"/>
              </a:buClr>
              <a:buSzPts val="1800"/>
              <a:buFont typeface="Times New Roman"/>
              <a:buNone/>
            </a:pPr>
            <a:r>
              <a:rPr lang="en-US" sz="1800" b="1" i="0" u="none" dirty="0">
                <a:solidFill>
                  <a:srgbClr val="001F5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Approved by AICTE Affiliated to Anna University, Chennai</a:t>
            </a:r>
            <a:br>
              <a:rPr lang="en-US" sz="1800" b="1" i="0" u="none" dirty="0">
                <a:solidFill>
                  <a:srgbClr val="001F5F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b="1" i="0" u="none" dirty="0">
                <a:solidFill>
                  <a:srgbClr val="001F5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Accredited With ‘A’ Grade by NAAC &amp; By NBA</a:t>
            </a:r>
            <a:endParaRPr dirty="0"/>
          </a:p>
        </p:txBody>
      </p:sp>
      <p:pic>
        <p:nvPicPr>
          <p:cNvPr id="106" name="Google Shape;106;p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38125" y="412750"/>
            <a:ext cx="1490662" cy="12811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"/>
          <p:cNvSpPr txBox="1"/>
          <p:nvPr/>
        </p:nvSpPr>
        <p:spPr>
          <a:xfrm>
            <a:off x="0" y="6632575"/>
            <a:ext cx="12192000" cy="225425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3509962" y="-6350"/>
            <a:ext cx="5172075" cy="128587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92187" y="382587"/>
            <a:ext cx="10207625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eorgia"/>
              <a:buNone/>
            </a:pPr>
            <a:r>
              <a:rPr lang="en-US" sz="3200" b="0" i="0" u="none" dirty="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DOMAIN</a:t>
            </a:r>
            <a:endParaRPr dirty="0"/>
          </a:p>
        </p:txBody>
      </p:sp>
      <p:sp>
        <p:nvSpPr>
          <p:cNvPr id="114" name="Google Shape;114;p2"/>
          <p:cNvSpPr txBox="1"/>
          <p:nvPr/>
        </p:nvSpPr>
        <p:spPr>
          <a:xfrm>
            <a:off x="992187" y="1465874"/>
            <a:ext cx="10279062" cy="3046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lvl="0" indent="-457200">
              <a:buFont typeface="+mj-lt"/>
              <a:buAutoNum type="arabicPeriod"/>
            </a:pPr>
            <a:r>
              <a:rPr lang="en-IN" sz="3200" dirty="0"/>
              <a:t>Internet of Things (IoT)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3200" dirty="0"/>
              <a:t>Digital Twin Technology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3200" dirty="0"/>
              <a:t>Artificial Intelligence (AI)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3200" dirty="0"/>
              <a:t>Machine Learning (ML)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3200" dirty="0"/>
              <a:t>Predictive Maintenance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3200" dirty="0"/>
              <a:t>Real-Time Monitoring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"/>
          <p:cNvSpPr txBox="1"/>
          <p:nvPr/>
        </p:nvSpPr>
        <p:spPr>
          <a:xfrm>
            <a:off x="0" y="6632575"/>
            <a:ext cx="12192000" cy="225425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3509962" y="-6350"/>
            <a:ext cx="5172075" cy="128587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992187" y="382587"/>
            <a:ext cx="10207625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eorgia"/>
              <a:buNone/>
            </a:pPr>
            <a:r>
              <a:rPr lang="en-US" sz="3200" b="0" i="0" u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OBJECTIVE</a:t>
            </a: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E3A310-DDF0-BE7E-C7E4-AB68C066F295}"/>
              </a:ext>
            </a:extLst>
          </p:cNvPr>
          <p:cNvSpPr txBox="1"/>
          <p:nvPr/>
        </p:nvSpPr>
        <p:spPr>
          <a:xfrm>
            <a:off x="1130710" y="1337187"/>
            <a:ext cx="892768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400" dirty="0"/>
              <a:t>To develop a low-cost elevator safety monitoring prototype using IoT sensors. 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400" dirty="0"/>
              <a:t>To create a </a:t>
            </a:r>
            <a:r>
              <a:rPr lang="en-IN" sz="2400" b="1" dirty="0"/>
              <a:t>digital twin</a:t>
            </a:r>
            <a:r>
              <a:rPr lang="en-IN" sz="2400" dirty="0"/>
              <a:t> that represents the real-time condition of the physical elevator. 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400" dirty="0"/>
              <a:t>To monitor parameters such as vibration, temperature, floor position and door status. 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400" dirty="0"/>
              <a:t>To detect abnormal conditions and provide </a:t>
            </a:r>
            <a:r>
              <a:rPr lang="en-IN" sz="2400" b="1" dirty="0"/>
              <a:t>early fault warnings</a:t>
            </a:r>
            <a:r>
              <a:rPr lang="en-IN" sz="2400" dirty="0"/>
              <a:t>. 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400" dirty="0"/>
              <a:t>To explore lightweight AI-based anomaly detection for predictive maintenance. 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400" dirty="0"/>
              <a:t>To reduce </a:t>
            </a:r>
            <a:r>
              <a:rPr lang="en-IN" sz="2400" b="1" dirty="0"/>
              <a:t>manual inspection </a:t>
            </a:r>
            <a:r>
              <a:rPr lang="en-IN" sz="2400" dirty="0"/>
              <a:t>and </a:t>
            </a:r>
            <a:r>
              <a:rPr lang="en-IN" sz="2400" b="1" dirty="0"/>
              <a:t>improve elevator safety </a:t>
            </a:r>
            <a:r>
              <a:rPr lang="en-IN" sz="2400" dirty="0"/>
              <a:t>and </a:t>
            </a:r>
            <a:r>
              <a:rPr lang="en-IN" sz="2400" b="1" dirty="0"/>
              <a:t>maintenance efficiency</a:t>
            </a:r>
            <a:r>
              <a:rPr lang="en-IN" sz="24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"/>
          <p:cNvSpPr txBox="1"/>
          <p:nvPr/>
        </p:nvSpPr>
        <p:spPr>
          <a:xfrm>
            <a:off x="0" y="6632575"/>
            <a:ext cx="12192000" cy="225425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3509962" y="-6350"/>
            <a:ext cx="5172075" cy="128587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992187" y="382587"/>
            <a:ext cx="10207625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eorgia"/>
              <a:buNone/>
            </a:pPr>
            <a:r>
              <a:rPr lang="en-US" sz="3200" b="0" i="0" u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ABSTRACT</a:t>
            </a: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800120-8C9E-5296-EB62-EF07D16DB318}"/>
              </a:ext>
            </a:extLst>
          </p:cNvPr>
          <p:cNvSpPr txBox="1"/>
          <p:nvPr/>
        </p:nvSpPr>
        <p:spPr>
          <a:xfrm>
            <a:off x="1091381" y="1764549"/>
            <a:ext cx="996990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IN" sz="2000" dirty="0"/>
              <a:t>Elevator safety is an important concern as mechanical and electrical faults can lead to operational failures and safety risks.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IN" sz="2000" dirty="0"/>
              <a:t>Conventional inspection methods mainly depend on periodic maintenance and manual observation, which may not identify developing faults at an early stage. This project proposes a </a:t>
            </a:r>
            <a:r>
              <a:rPr lang="en-IN" sz="2000" b="1" dirty="0"/>
              <a:t>low-cost IoT-based Elevator Safety Digital Twin</a:t>
            </a:r>
            <a:r>
              <a:rPr lang="en-IN" sz="2000" dirty="0"/>
              <a:t> that continuously monitors the physical elevator prototype using sensors.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IN" sz="2000" dirty="0"/>
              <a:t>An ESP32 collects parameters such as vibration, temperature, floor position and door status and transfers the data to a digital representation of the elevator.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IN" sz="2000" dirty="0"/>
              <a:t>The digital twin provides real-time visualization of elevator operating conditions and identifies abnormal </a:t>
            </a:r>
            <a:r>
              <a:rPr lang="en-IN" sz="2000" dirty="0" err="1"/>
              <a:t>behavior</a:t>
            </a:r>
            <a:r>
              <a:rPr lang="en-IN" sz="2000" dirty="0"/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IN" sz="2000" dirty="0"/>
              <a:t>Fault simulation can be incorporated to test conditions such as excessive vibration, door obstruction and abnormal movement.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/>
          <p:cNvSpPr txBox="1"/>
          <p:nvPr/>
        </p:nvSpPr>
        <p:spPr>
          <a:xfrm>
            <a:off x="0" y="6632575"/>
            <a:ext cx="12192000" cy="225425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5"/>
          <p:cNvSpPr txBox="1"/>
          <p:nvPr/>
        </p:nvSpPr>
        <p:spPr>
          <a:xfrm>
            <a:off x="3509962" y="-6350"/>
            <a:ext cx="5172075" cy="128587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5"/>
          <p:cNvSpPr txBox="1"/>
          <p:nvPr/>
        </p:nvSpPr>
        <p:spPr>
          <a:xfrm>
            <a:off x="992187" y="382587"/>
            <a:ext cx="10207625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eorgia"/>
              <a:buNone/>
            </a:pPr>
            <a:r>
              <a:rPr lang="en-US" sz="3200" b="0" i="0" u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LITERATURE REVIEW</a:t>
            </a:r>
            <a:endParaRPr/>
          </a:p>
        </p:txBody>
      </p:sp>
      <p:graphicFrame>
        <p:nvGraphicFramePr>
          <p:cNvPr id="138" name="Google Shape;138;p5"/>
          <p:cNvGraphicFramePr/>
          <p:nvPr>
            <p:extLst>
              <p:ext uri="{D42A27DB-BD31-4B8C-83A1-F6EECF244321}">
                <p14:modId xmlns:p14="http://schemas.microsoft.com/office/powerpoint/2010/main" val="4037801561"/>
              </p:ext>
            </p:extLst>
          </p:nvPr>
        </p:nvGraphicFramePr>
        <p:xfrm>
          <a:off x="992187" y="1149350"/>
          <a:ext cx="10502900" cy="5201389"/>
        </p:xfrm>
        <a:graphic>
          <a:graphicData uri="http://schemas.openxmlformats.org/drawingml/2006/table">
            <a:tbl>
              <a:tblPr>
                <a:noFill/>
                <a:tableStyleId>{7F5DC531-3BBC-4B7F-937C-E1510FDDE53F}</a:tableStyleId>
              </a:tblPr>
              <a:tblGrid>
                <a:gridCol w="74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11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41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40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b="1" i="0" u="none" strike="noStrike" cap="none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S.No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b="1" i="0" u="none" strike="noStrike" cap="none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ARTICLE TITLE &amp; PUBLICATION DETAIL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b="1" i="0" u="none" strike="noStrike" cap="none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METHODOLOGY USED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CE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400" b="1" dirty="0"/>
                        <a:t>Elevator fault diagnosis based on digital twin and PINNs-e-RGCN</a:t>
                      </a:r>
                      <a:r>
                        <a:rPr lang="en-IN" sz="2400" dirty="0"/>
                        <a:t> — </a:t>
                      </a:r>
                      <a:r>
                        <a:rPr lang="en-IN" sz="2400" i="1" dirty="0"/>
                        <a:t>Scientific Reports</a:t>
                      </a:r>
                      <a:r>
                        <a:rPr lang="en-IN" sz="2400" dirty="0"/>
                        <a:t>, 2024</a:t>
                      </a:r>
                      <a:endParaRPr sz="2400" b="0" i="0" u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CE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IN" sz="2400" dirty="0"/>
                        <a:t>Digital Twin, PINNs, e-RGCN, vibration modelling, fault diagnosis</a:t>
                      </a:r>
                      <a:endParaRPr sz="2400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CE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8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400" b="1" dirty="0"/>
                        <a:t>An IoT-Based Real-Time Elevator Health Monitoring System Using LSTM Autoencoder</a:t>
                      </a:r>
                      <a:r>
                        <a:rPr lang="en-IN" sz="2400" dirty="0"/>
                        <a:t> — </a:t>
                      </a:r>
                      <a:r>
                        <a:rPr lang="en-IN" sz="2400" i="1" dirty="0"/>
                        <a:t>IEEE Sensors Letters</a:t>
                      </a:r>
                      <a:r>
                        <a:rPr lang="en-IN" sz="2400" dirty="0"/>
                        <a:t>, 2026</a:t>
                      </a:r>
                      <a:endParaRPr sz="2400" b="0" i="0" u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8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IN" sz="2400" dirty="0"/>
                        <a:t>IoT, accelerometer, wireless communication, LSTM Autoencoder, anomaly detection</a:t>
                      </a:r>
                      <a:endParaRPr sz="2400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8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"/>
          <p:cNvSpPr txBox="1"/>
          <p:nvPr/>
        </p:nvSpPr>
        <p:spPr>
          <a:xfrm>
            <a:off x="0" y="6632575"/>
            <a:ext cx="12192000" cy="225425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6"/>
          <p:cNvSpPr txBox="1"/>
          <p:nvPr/>
        </p:nvSpPr>
        <p:spPr>
          <a:xfrm>
            <a:off x="3509962" y="-6350"/>
            <a:ext cx="5172075" cy="128587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6"/>
          <p:cNvSpPr txBox="1"/>
          <p:nvPr/>
        </p:nvSpPr>
        <p:spPr>
          <a:xfrm>
            <a:off x="992187" y="382587"/>
            <a:ext cx="10207625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eorgia"/>
              <a:buNone/>
            </a:pPr>
            <a:r>
              <a:rPr lang="en-US" sz="3200" b="0" i="0" u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LITERATURE REVIEW….</a:t>
            </a:r>
            <a:endParaRPr/>
          </a:p>
        </p:txBody>
      </p:sp>
      <p:graphicFrame>
        <p:nvGraphicFramePr>
          <p:cNvPr id="146" name="Google Shape;146;p6"/>
          <p:cNvGraphicFramePr/>
          <p:nvPr>
            <p:extLst>
              <p:ext uri="{D42A27DB-BD31-4B8C-83A1-F6EECF244321}">
                <p14:modId xmlns:p14="http://schemas.microsoft.com/office/powerpoint/2010/main" val="808172235"/>
              </p:ext>
            </p:extLst>
          </p:nvPr>
        </p:nvGraphicFramePr>
        <p:xfrm>
          <a:off x="996950" y="1330325"/>
          <a:ext cx="10585450" cy="5099050"/>
        </p:xfrm>
        <a:graphic>
          <a:graphicData uri="http://schemas.openxmlformats.org/drawingml/2006/table">
            <a:tbl>
              <a:tblPr>
                <a:noFill/>
                <a:tableStyleId>{7F5DC531-3BBC-4B7F-937C-E1510FDDE53F}</a:tableStyleId>
              </a:tblPr>
              <a:tblGrid>
                <a:gridCol w="755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6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76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b="1" i="0" u="none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S.No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b="1" i="0" u="none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ARTICLE TITLE &amp; PUBLICATION DETAIL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b="1" i="0" u="none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METHODOLOGY USED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CE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400" b="1" dirty="0"/>
                        <a:t>Elevator Running Fault Monitoring Method Based on Vibration Signal</a:t>
                      </a:r>
                      <a:r>
                        <a:rPr lang="en-IN" sz="2400" dirty="0"/>
                        <a:t> — </a:t>
                      </a:r>
                      <a:r>
                        <a:rPr lang="en-IN" sz="2400" i="1" dirty="0"/>
                        <a:t>Shock and Vibration</a:t>
                      </a:r>
                      <a:r>
                        <a:rPr lang="en-IN" sz="2400" dirty="0"/>
                        <a:t>, 2021</a:t>
                      </a:r>
                      <a:endParaRPr sz="2400" b="0" i="0" u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CE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IN" sz="2400" dirty="0"/>
                        <a:t>Vibration signals, wavelet transform, PCA, 1-D CNN, fault classification</a:t>
                      </a:r>
                      <a:endParaRPr sz="2400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CE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8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400" b="1" dirty="0"/>
                        <a:t>Non-contact Optical Vibration Sensing and Dual-Branch Deep Learning for Intelligent Elevator Fault Diagnosis</a:t>
                      </a:r>
                      <a:r>
                        <a:rPr lang="en-IN" sz="2400" dirty="0"/>
                        <a:t> — </a:t>
                      </a:r>
                      <a:r>
                        <a:rPr lang="en-IN" sz="2400" i="1" dirty="0"/>
                        <a:t>Sensors and Actuators A: Physical</a:t>
                      </a:r>
                      <a:r>
                        <a:rPr lang="en-IN" sz="2400" dirty="0"/>
                        <a:t>, 2026</a:t>
                      </a:r>
                      <a:endParaRPr sz="2400" b="0" i="0" u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8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IN" sz="2400" dirty="0"/>
                        <a:t>Optical vibration sensing, LSTM-CNN, deep learning, fault classification</a:t>
                      </a:r>
                      <a:endParaRPr sz="2400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8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/>
          <p:nvPr/>
        </p:nvSpPr>
        <p:spPr>
          <a:xfrm>
            <a:off x="0" y="6632575"/>
            <a:ext cx="12192000" cy="225425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7"/>
          <p:cNvSpPr txBox="1"/>
          <p:nvPr/>
        </p:nvSpPr>
        <p:spPr>
          <a:xfrm>
            <a:off x="3509962" y="-6350"/>
            <a:ext cx="5172075" cy="128587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992187" y="382587"/>
            <a:ext cx="10207625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eorgia"/>
              <a:buNone/>
            </a:pPr>
            <a:r>
              <a:rPr lang="en-US" sz="3200" b="0" i="0" u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LITERATURE REVIEW….</a:t>
            </a:r>
            <a:endParaRPr/>
          </a:p>
        </p:txBody>
      </p:sp>
      <p:graphicFrame>
        <p:nvGraphicFramePr>
          <p:cNvPr id="154" name="Google Shape;154;p7"/>
          <p:cNvGraphicFramePr/>
          <p:nvPr>
            <p:extLst>
              <p:ext uri="{D42A27DB-BD31-4B8C-83A1-F6EECF244321}">
                <p14:modId xmlns:p14="http://schemas.microsoft.com/office/powerpoint/2010/main" val="431874334"/>
              </p:ext>
            </p:extLst>
          </p:nvPr>
        </p:nvGraphicFramePr>
        <p:xfrm>
          <a:off x="996950" y="1330325"/>
          <a:ext cx="10585450" cy="4824400"/>
        </p:xfrm>
        <a:graphic>
          <a:graphicData uri="http://schemas.openxmlformats.org/drawingml/2006/table">
            <a:tbl>
              <a:tblPr>
                <a:noFill/>
                <a:tableStyleId>{7F5DC531-3BBC-4B7F-937C-E1510FDDE53F}</a:tableStyleId>
              </a:tblPr>
              <a:tblGrid>
                <a:gridCol w="755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6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76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b="1" i="0" u="none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S.No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b="1" i="0" u="none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ARTICLE TITLE &amp; PUBLICATION DETAIL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endParaRPr sz="1800" b="1" i="0" u="none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METHODOLOGY USED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2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CE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400" dirty="0"/>
                        <a:t>Digital Twin-Based Fault Diagnosis and Predictive Maintenance for Industrial Systems</a:t>
                      </a:r>
                      <a:endParaRPr sz="2400" b="0" i="0" u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CED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IN" sz="2400" dirty="0"/>
                        <a:t>Digital Twin, IoT sensors, real-time monitoring, predictive maintenance</a:t>
                      </a:r>
                      <a:endParaRPr sz="2400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CE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8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400" dirty="0"/>
                        <a:t>AI-Based Intelligent Condition Monitoring of Elevator Systems</a:t>
                      </a:r>
                      <a:endParaRPr sz="2400" b="0" i="0" u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8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IN" sz="2400" dirty="0"/>
                        <a:t>Machine Learning, sensor data analysis, anomaly detection, condition monitoring</a:t>
                      </a:r>
                      <a:endParaRPr sz="2400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8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"/>
          <p:cNvSpPr txBox="1"/>
          <p:nvPr/>
        </p:nvSpPr>
        <p:spPr>
          <a:xfrm>
            <a:off x="0" y="6632575"/>
            <a:ext cx="12192000" cy="225425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0"/>
          <p:cNvSpPr txBox="1"/>
          <p:nvPr/>
        </p:nvSpPr>
        <p:spPr>
          <a:xfrm>
            <a:off x="3509962" y="-6350"/>
            <a:ext cx="5172075" cy="128587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0"/>
          <p:cNvSpPr txBox="1"/>
          <p:nvPr/>
        </p:nvSpPr>
        <p:spPr>
          <a:xfrm>
            <a:off x="992187" y="382587"/>
            <a:ext cx="10207625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eorgia"/>
              <a:buNone/>
            </a:pPr>
            <a:r>
              <a:rPr lang="en-US" sz="3200" b="0" i="0" u="none" dirty="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PROPOSED BLOCK DIAGRAM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25EAB6-CB01-526A-5C12-F7AB708CF8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0864" y="921802"/>
            <a:ext cx="3898233" cy="54789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1"/>
          <p:cNvSpPr txBox="1">
            <a:spLocks noGrp="1"/>
          </p:cNvSpPr>
          <p:nvPr>
            <p:ph type="body" idx="1"/>
          </p:nvPr>
        </p:nvSpPr>
        <p:spPr>
          <a:xfrm>
            <a:off x="350075" y="3703214"/>
            <a:ext cx="11360400" cy="84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228600" lvl="0" indent="-114300" algn="just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marR="0" lvl="0" indent="-1143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4" name="Google Shape;184;p11"/>
          <p:cNvSpPr txBox="1"/>
          <p:nvPr/>
        </p:nvSpPr>
        <p:spPr>
          <a:xfrm>
            <a:off x="2649125" y="547062"/>
            <a:ext cx="9398100" cy="7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eorgia"/>
              <a:buNone/>
            </a:pPr>
            <a:r>
              <a:rPr lang="en-US" sz="3200" b="0" i="0" u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DETAILS OF PROPOSED SYSTEM</a:t>
            </a: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BF4FD6-3248-AD7B-7015-FDBE1B8BAD9D}"/>
              </a:ext>
            </a:extLst>
          </p:cNvPr>
          <p:cNvSpPr txBox="1"/>
          <p:nvPr/>
        </p:nvSpPr>
        <p:spPr>
          <a:xfrm>
            <a:off x="946483" y="1459832"/>
            <a:ext cx="952901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/>
              <a:t>Physical Elevator Prototype</a:t>
            </a:r>
          </a:p>
          <a:p>
            <a:pPr>
              <a:buNone/>
            </a:pPr>
            <a:r>
              <a:rPr lang="en-IN" sz="2400" dirty="0"/>
              <a:t>A small-scale elevator model will be constructed using low-cost materials. A DC geared motor will control the movement of the elevator cabin between floors.</a:t>
            </a:r>
          </a:p>
          <a:p>
            <a:pPr>
              <a:buNone/>
            </a:pPr>
            <a:endParaRPr lang="en-IN" sz="2400" dirty="0"/>
          </a:p>
          <a:p>
            <a:pPr>
              <a:buNone/>
            </a:pPr>
            <a:r>
              <a:rPr lang="en-IN" sz="2400" b="1" dirty="0"/>
              <a:t>Sensor Module</a:t>
            </a:r>
          </a:p>
          <a:p>
            <a:pPr>
              <a:buNone/>
            </a:pPr>
            <a:r>
              <a:rPr lang="en-IN" sz="2400" dirty="0"/>
              <a:t>Sensors will continuously collect elevator operating parameters: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Vibration sensor</a:t>
            </a:r>
            <a:r>
              <a:rPr lang="en-IN" sz="2400" dirty="0"/>
              <a:t> → detects abnormal vibration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Temperature sensor</a:t>
            </a:r>
            <a:r>
              <a:rPr lang="en-IN" sz="2400" dirty="0"/>
              <a:t> → monitors overheating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IR sensor</a:t>
            </a:r>
            <a:r>
              <a:rPr lang="en-IN" sz="2400" dirty="0"/>
              <a:t> → detects floor position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IR obstacle sensor</a:t>
            </a:r>
            <a:r>
              <a:rPr lang="en-IN" sz="2400" dirty="0"/>
              <a:t> → detects door obstruction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Optional current sensor</a:t>
            </a:r>
            <a:r>
              <a:rPr lang="en-IN" sz="2400" dirty="0"/>
              <a:t> → monitors motor current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4"/>
          <p:cNvSpPr txBox="1"/>
          <p:nvPr/>
        </p:nvSpPr>
        <p:spPr>
          <a:xfrm>
            <a:off x="0" y="6632575"/>
            <a:ext cx="12192000" cy="225425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4"/>
          <p:cNvSpPr txBox="1"/>
          <p:nvPr/>
        </p:nvSpPr>
        <p:spPr>
          <a:xfrm>
            <a:off x="3509962" y="-6350"/>
            <a:ext cx="5172075" cy="128587"/>
          </a:xfrm>
          <a:prstGeom prst="rect">
            <a:avLst/>
          </a:prstGeom>
          <a:solidFill>
            <a:srgbClr val="3818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4"/>
          <p:cNvSpPr txBox="1"/>
          <p:nvPr/>
        </p:nvSpPr>
        <p:spPr>
          <a:xfrm>
            <a:off x="992187" y="382587"/>
            <a:ext cx="10207625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eorgia"/>
              <a:buNone/>
            </a:pPr>
            <a:r>
              <a:rPr lang="en-US" sz="3200" b="0" i="0" u="none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REFERENCES</a:t>
            </a:r>
            <a:endParaRPr/>
          </a:p>
        </p:txBody>
      </p:sp>
      <p:graphicFrame>
        <p:nvGraphicFramePr>
          <p:cNvPr id="205" name="Google Shape;205;p14"/>
          <p:cNvGraphicFramePr/>
          <p:nvPr>
            <p:extLst>
              <p:ext uri="{D42A27DB-BD31-4B8C-83A1-F6EECF244321}">
                <p14:modId xmlns:p14="http://schemas.microsoft.com/office/powerpoint/2010/main" val="1960626540"/>
              </p:ext>
            </p:extLst>
          </p:nvPr>
        </p:nvGraphicFramePr>
        <p:xfrm>
          <a:off x="557198" y="1090863"/>
          <a:ext cx="10642613" cy="5231370"/>
        </p:xfrm>
        <a:graphic>
          <a:graphicData uri="http://schemas.openxmlformats.org/drawingml/2006/table">
            <a:tbl>
              <a:tblPr>
                <a:noFill/>
                <a:tableStyleId>{7F5DC531-3BBC-4B7F-937C-E1510FDDE53F}</a:tableStyleId>
              </a:tblPr>
              <a:tblGrid>
                <a:gridCol w="904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38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80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S.NO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i="0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REFERENCE DETAILS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358">
                <a:tc>
                  <a:txBody>
                    <a:bodyPr/>
                    <a:lstStyle/>
                    <a:p>
                      <a:pPr marL="400050" marR="0" lvl="0" indent="-4000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dirty="0"/>
                        <a:t>1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D7F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600" dirty="0"/>
                        <a:t>Q. Wang, L. Chen, G. Xiao, P. Wang, Y. Gu, and J. Lu, </a:t>
                      </a:r>
                      <a:r>
                        <a:rPr lang="en-IN" sz="1600" b="1" dirty="0"/>
                        <a:t>“Elevator fault diagnosis based on digital twin and PINNs-e-RGCN,”</a:t>
                      </a:r>
                      <a:r>
                        <a:rPr lang="en-IN" sz="1600" dirty="0"/>
                        <a:t> </a:t>
                      </a:r>
                      <a:r>
                        <a:rPr lang="en-IN" sz="1600" i="1" dirty="0"/>
                        <a:t>Scientific Reports</a:t>
                      </a:r>
                      <a:r>
                        <a:rPr lang="en-IN" sz="1600" dirty="0"/>
                        <a:t>, vol. 14, Art. no. 30713, 2024, </a:t>
                      </a:r>
                      <a:r>
                        <a:rPr lang="en-IN" sz="1600" dirty="0" err="1"/>
                        <a:t>doi</a:t>
                      </a:r>
                      <a:r>
                        <a:rPr lang="en-IN" sz="1600" dirty="0"/>
                        <a:t>: 10.1038/s41598-024-78784-7. </a:t>
                      </a:r>
                      <a:endParaRPr sz="160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D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358">
                <a:tc>
                  <a:txBody>
                    <a:bodyPr/>
                    <a:lstStyle/>
                    <a:p>
                      <a:pPr marL="400050" marR="0" lvl="0" indent="-4000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C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600" dirty="0"/>
                        <a:t>Y. Kumar, M. A. Khan, and A. Adhikary, </a:t>
                      </a:r>
                      <a:r>
                        <a:rPr lang="en-IN" sz="1600" b="1" dirty="0"/>
                        <a:t>“An IoT-Based Real-Time Elevator Health Monitoring System Using LSTM Autoencoder,”</a:t>
                      </a:r>
                      <a:r>
                        <a:rPr lang="en-IN" sz="1600" dirty="0"/>
                        <a:t> </a:t>
                      </a:r>
                      <a:r>
                        <a:rPr lang="en-IN" sz="1600" i="1" dirty="0"/>
                        <a:t>IEEE Sensors Letters</a:t>
                      </a:r>
                      <a:r>
                        <a:rPr lang="en-IN" sz="1600" dirty="0"/>
                        <a:t>, 2026.</a:t>
                      </a:r>
                      <a:endParaRPr sz="1600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C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808">
                <a:tc>
                  <a:txBody>
                    <a:bodyPr/>
                    <a:lstStyle/>
                    <a:p>
                      <a:pPr marL="400050" marR="0" lvl="0" indent="-4000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dirty="0"/>
                        <a:t>3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D7F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600" b="1" dirty="0"/>
                        <a:t>Elevator Running Fault Monitoring Method Based on Vibration Signal,</a:t>
                      </a:r>
                      <a:r>
                        <a:rPr lang="en-IN" sz="1600" dirty="0"/>
                        <a:t> </a:t>
                      </a:r>
                      <a:r>
                        <a:rPr lang="en-IN" sz="1600" i="1" dirty="0"/>
                        <a:t>Shock and Vibration</a:t>
                      </a:r>
                      <a:r>
                        <a:rPr lang="en-IN" sz="1600" dirty="0"/>
                        <a:t>, 2021.</a:t>
                      </a:r>
                      <a:endParaRPr sz="1600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D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pPr marL="400050" marR="0" lvl="0" indent="-4000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dirty="0"/>
                        <a:t>4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C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  <a:tabLst/>
                        <a:defRPr/>
                      </a:pPr>
                      <a:r>
                        <a:rPr lang="en-IN" sz="1600" b="1" dirty="0"/>
                        <a:t>“Real-Time Intelligent Elevator Monitoring and Diagnosis: Case Studies and Solutions with Applications Using Artificial Intelligence,”</a:t>
                      </a:r>
                      <a:r>
                        <a:rPr lang="en-IN" sz="1600" dirty="0"/>
                        <a:t> </a:t>
                      </a:r>
                      <a:r>
                        <a:rPr lang="en-IN" sz="1600" i="1" dirty="0"/>
                        <a:t>Computers &amp; Electrical Engineering</a:t>
                      </a:r>
                      <a:r>
                        <a:rPr lang="en-IN" sz="1600" dirty="0"/>
                        <a:t>, 2022.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endParaRPr sz="160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C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pPr marL="400050" marR="0" lvl="0" indent="-4000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dirty="0"/>
                        <a:t>5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D7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  <a:tabLst/>
                        <a:defRPr/>
                      </a:pPr>
                      <a:r>
                        <a:rPr lang="en-IN" sz="1600" dirty="0"/>
                        <a:t>J. Luo et al., </a:t>
                      </a:r>
                      <a:r>
                        <a:rPr lang="en-IN" sz="1600" b="1" dirty="0"/>
                        <a:t>“Non-contact optical vibration sensing and dual-branch deep learning for intelligent elevator fault diagnosis,”</a:t>
                      </a:r>
                      <a:r>
                        <a:rPr lang="en-IN" sz="1600" dirty="0"/>
                        <a:t> </a:t>
                      </a:r>
                      <a:r>
                        <a:rPr lang="en-IN" sz="1600" i="1" dirty="0"/>
                        <a:t>Sensors and Actuators A: Physical</a:t>
                      </a:r>
                      <a:r>
                        <a:rPr lang="en-IN" sz="1600" dirty="0"/>
                        <a:t>, 2026.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endParaRPr sz="160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D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2551">
                <a:tc>
                  <a:txBody>
                    <a:bodyPr/>
                    <a:lstStyle/>
                    <a:p>
                      <a:pPr marL="400050" marR="0" lvl="0" indent="-4000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dirty="0"/>
                        <a:t>6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C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IN" sz="1600" i="1" dirty="0"/>
                        <a:t>Deep Learning Methods for Fault Early Warning of Elevator Traction Systems with Multi-Source Data Fusion</a:t>
                      </a:r>
                      <a:r>
                        <a:rPr lang="en-IN" sz="1600" dirty="0"/>
                        <a:t> — </a:t>
                      </a:r>
                      <a:r>
                        <a:rPr lang="en-IN" sz="1600" b="1" dirty="0"/>
                        <a:t>Discover Applied Sciences, Springer, 2026</a:t>
                      </a:r>
                      <a:endParaRPr sz="1600" dirty="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C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6113">
                <a:tc>
                  <a:txBody>
                    <a:bodyPr/>
                    <a:lstStyle/>
                    <a:p>
                      <a:pPr marL="400050" marR="0" lvl="0" indent="-4000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dirty="0"/>
                        <a:t>7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D7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600" i="1" dirty="0"/>
                        <a:t>Deep Learning Methods for Fault Early Warning of Elevator Traction Systems with Multi-Source Data Fusion</a:t>
                      </a:r>
                      <a:r>
                        <a:rPr lang="en-IN" sz="1600" dirty="0"/>
                        <a:t> — </a:t>
                      </a:r>
                      <a:r>
                        <a:rPr lang="en-IN" sz="1600" b="1" dirty="0"/>
                        <a:t>Discover Applied Sciences, Springer, 2026</a:t>
                      </a:r>
                      <a:endParaRPr sz="1600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D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1">
      <a:dk1>
        <a:srgbClr val="000000"/>
      </a:dk1>
      <a:lt1>
        <a:srgbClr val="FFFFFF"/>
      </a:lt1>
      <a:dk2>
        <a:srgbClr val="44546A"/>
      </a:dk2>
      <a:lt2>
        <a:srgbClr val="7030A0"/>
      </a:lt2>
      <a:accent1>
        <a:srgbClr val="F23558"/>
      </a:accent1>
      <a:accent2>
        <a:srgbClr val="0D7AD9"/>
      </a:accent2>
      <a:accent3>
        <a:srgbClr val="75B503"/>
      </a:accent3>
      <a:accent4>
        <a:srgbClr val="F2A950"/>
      </a:accent4>
      <a:accent5>
        <a:srgbClr val="F25E3D"/>
      </a:accent5>
      <a:accent6>
        <a:srgbClr val="00B0F0"/>
      </a:accent6>
      <a:hlink>
        <a:srgbClr val="BF2424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807</Words>
  <Application>Microsoft Office PowerPoint</Application>
  <PresentationFormat>Widescreen</PresentationFormat>
  <Paragraphs>102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Calibri</vt:lpstr>
      <vt:lpstr>Times New Roman</vt:lpstr>
      <vt:lpstr>Georgia</vt:lpstr>
      <vt:lpstr>Book Antiqua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Kavitha</dc:creator>
  <cp:lastModifiedBy>LEKHA MOL</cp:lastModifiedBy>
  <cp:revision>8</cp:revision>
  <dcterms:created xsi:type="dcterms:W3CDTF">2019-12-06T03:59:31Z</dcterms:created>
  <dcterms:modified xsi:type="dcterms:W3CDTF">2026-09-09T08:01:07Z</dcterms:modified>
</cp:coreProperties>
</file>